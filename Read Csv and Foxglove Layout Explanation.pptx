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8" r:id="rId9"/>
    <p:sldId id="264" r:id="rId10"/>
    <p:sldId id="265" r:id="rId11"/>
    <p:sldId id="266"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D144FC-1E4A-9540-B74E-4C21BDB496D6}" v="88" dt="2025-08-14T16:18:07.892"/>
    <p1510:client id="{A71F8DC6-F99F-7207-3BB1-7B5BA2CCAB15}" v="618" dt="2025-08-15T16:57:51.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8/15/2025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8/15/2025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8/15/2025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310B22-8906-7035-27F8-76754EDDB818}"/>
              </a:ext>
            </a:extLst>
          </p:cNvPr>
          <p:cNvSpPr txBox="1"/>
          <p:nvPr/>
        </p:nvSpPr>
        <p:spPr>
          <a:xfrm>
            <a:off x="179293" y="251012"/>
            <a:ext cx="43837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solidFill>
                  <a:schemeClr val="bg1"/>
                </a:solidFill>
              </a:rPr>
              <a:t>Foxglove</a:t>
            </a:r>
          </a:p>
        </p:txBody>
      </p:sp>
      <p:sp>
        <p:nvSpPr>
          <p:cNvPr id="6" name="TextBox 5">
            <a:extLst>
              <a:ext uri="{FF2B5EF4-FFF2-40B4-BE49-F238E27FC236}">
                <a16:creationId xmlns:a16="http://schemas.microsoft.com/office/drawing/2014/main" id="{CD114517-5E20-B78A-0D48-7F212CF0882C}"/>
              </a:ext>
            </a:extLst>
          </p:cNvPr>
          <p:cNvSpPr txBox="1"/>
          <p:nvPr/>
        </p:nvSpPr>
        <p:spPr>
          <a:xfrm>
            <a:off x="681317" y="1129552"/>
            <a:ext cx="276112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I created a helpful layout in which you could access many different topics easily. There are four main quadrants, each with different tabs to switch between similar topics.</a:t>
            </a:r>
          </a:p>
        </p:txBody>
      </p:sp>
      <p:cxnSp>
        <p:nvCxnSpPr>
          <p:cNvPr id="7" name="Straight Arrow Connector 6">
            <a:extLst>
              <a:ext uri="{FF2B5EF4-FFF2-40B4-BE49-F238E27FC236}">
                <a16:creationId xmlns:a16="http://schemas.microsoft.com/office/drawing/2014/main" id="{FE307CD8-17EF-C21B-8AA4-40ED68F6F1D8}"/>
              </a:ext>
            </a:extLst>
          </p:cNvPr>
          <p:cNvCxnSpPr/>
          <p:nvPr/>
        </p:nvCxnSpPr>
        <p:spPr>
          <a:xfrm flipH="1">
            <a:off x="3550021" y="0"/>
            <a:ext cx="44824" cy="6857999"/>
          </a:xfrm>
          <a:prstGeom prst="straightConnector1">
            <a:avLst/>
          </a:prstGeom>
        </p:spPr>
        <p:style>
          <a:lnRef idx="3">
            <a:schemeClr val="dk1"/>
          </a:lnRef>
          <a:fillRef idx="0">
            <a:schemeClr val="dk1"/>
          </a:fillRef>
          <a:effectRef idx="2">
            <a:schemeClr val="dk1"/>
          </a:effectRef>
          <a:fontRef idx="minor">
            <a:schemeClr val="tx1"/>
          </a:fontRef>
        </p:style>
      </p:cxnSp>
      <p:pic>
        <p:nvPicPr>
          <p:cNvPr id="10" name="Picture 9" descr="A screenshot of a computer&#10;&#10;AI-generated content may be incorrect.">
            <a:extLst>
              <a:ext uri="{FF2B5EF4-FFF2-40B4-BE49-F238E27FC236}">
                <a16:creationId xmlns:a16="http://schemas.microsoft.com/office/drawing/2014/main" id="{47637FD8-A51C-9272-F564-FA557387ACA3}"/>
              </a:ext>
            </a:extLst>
          </p:cNvPr>
          <p:cNvPicPr>
            <a:picLocks noChangeAspect="1"/>
          </p:cNvPicPr>
          <p:nvPr/>
        </p:nvPicPr>
        <p:blipFill>
          <a:blip r:embed="rId2"/>
          <a:stretch>
            <a:fillRect/>
          </a:stretch>
        </p:blipFill>
        <p:spPr>
          <a:xfrm>
            <a:off x="3889308" y="909687"/>
            <a:ext cx="7981337" cy="5047130"/>
          </a:xfrm>
          <a:prstGeom prst="rect">
            <a:avLst/>
          </a:prstGeom>
          <a:ln w="12700">
            <a:solidFill>
              <a:schemeClr val="tx1"/>
            </a:solidFill>
          </a:ln>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A14D5605-2CE2-0D4D-0A4D-B106DC6A62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F526C2-F0AC-44D5-E933-4AB7C8C64D13}"/>
              </a:ext>
            </a:extLst>
          </p:cNvPr>
          <p:cNvSpPr txBox="1"/>
          <p:nvPr/>
        </p:nvSpPr>
        <p:spPr>
          <a:xfrm>
            <a:off x="179293" y="251012"/>
            <a:ext cx="43837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solidFill>
                  <a:schemeClr val="bg1"/>
                </a:solidFill>
              </a:rPr>
              <a:t>Quadrant 1</a:t>
            </a:r>
          </a:p>
        </p:txBody>
      </p:sp>
      <p:sp>
        <p:nvSpPr>
          <p:cNvPr id="6" name="TextBox 5">
            <a:extLst>
              <a:ext uri="{FF2B5EF4-FFF2-40B4-BE49-F238E27FC236}">
                <a16:creationId xmlns:a16="http://schemas.microsoft.com/office/drawing/2014/main" id="{7E724D9E-81F3-12F3-B1EF-B3C3331CC120}"/>
              </a:ext>
            </a:extLst>
          </p:cNvPr>
          <p:cNvSpPr txBox="1"/>
          <p:nvPr/>
        </p:nvSpPr>
        <p:spPr>
          <a:xfrm>
            <a:off x="394446" y="1335740"/>
            <a:ext cx="276112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rPr>
              <a:t>Quadrant 1 includes the image from the cameras. Each tab is a different camera, and the side cameras are flipped to </a:t>
            </a:r>
            <a:r>
              <a:rPr lang="en-US">
                <a:solidFill>
                  <a:schemeClr val="bg1"/>
                </a:solidFill>
              </a:rPr>
              <a:t>make the image similar to the others. </a:t>
            </a:r>
            <a:endParaRPr lang="en-US" dirty="0">
              <a:solidFill>
                <a:schemeClr val="bg1"/>
              </a:solidFill>
            </a:endParaRPr>
          </a:p>
        </p:txBody>
      </p:sp>
      <p:cxnSp>
        <p:nvCxnSpPr>
          <p:cNvPr id="7" name="Straight Arrow Connector 6">
            <a:extLst>
              <a:ext uri="{FF2B5EF4-FFF2-40B4-BE49-F238E27FC236}">
                <a16:creationId xmlns:a16="http://schemas.microsoft.com/office/drawing/2014/main" id="{F7BD5349-FE8C-3897-49D0-DB70284066A3}"/>
              </a:ext>
            </a:extLst>
          </p:cNvPr>
          <p:cNvCxnSpPr/>
          <p:nvPr/>
        </p:nvCxnSpPr>
        <p:spPr>
          <a:xfrm flipH="1">
            <a:off x="3550021" y="0"/>
            <a:ext cx="44824" cy="6857999"/>
          </a:xfrm>
          <a:prstGeom prst="straightConnector1">
            <a:avLst/>
          </a:prstGeom>
        </p:spPr>
        <p:style>
          <a:lnRef idx="3">
            <a:schemeClr val="dk1"/>
          </a:lnRef>
          <a:fillRef idx="0">
            <a:schemeClr val="dk1"/>
          </a:fillRef>
          <a:effectRef idx="2">
            <a:schemeClr val="dk1"/>
          </a:effectRef>
          <a:fontRef idx="minor">
            <a:schemeClr val="tx1"/>
          </a:fontRef>
        </p:style>
      </p:cxnSp>
      <p:pic>
        <p:nvPicPr>
          <p:cNvPr id="2" name="Picture 1" descr="A road with trees and power lines&#10;&#10;AI-generated content may be incorrect.">
            <a:extLst>
              <a:ext uri="{FF2B5EF4-FFF2-40B4-BE49-F238E27FC236}">
                <a16:creationId xmlns:a16="http://schemas.microsoft.com/office/drawing/2014/main" id="{3037D582-786C-0EFB-21FA-5F5939B980ED}"/>
              </a:ext>
            </a:extLst>
          </p:cNvPr>
          <p:cNvPicPr>
            <a:picLocks noChangeAspect="1"/>
          </p:cNvPicPr>
          <p:nvPr/>
        </p:nvPicPr>
        <p:blipFill>
          <a:blip r:embed="rId2"/>
          <a:srcRect t="1434" r="123" b="179"/>
          <a:stretch>
            <a:fillRect/>
          </a:stretch>
        </p:blipFill>
        <p:spPr>
          <a:xfrm>
            <a:off x="4271963" y="830076"/>
            <a:ext cx="7296718" cy="4919975"/>
          </a:xfrm>
          <a:prstGeom prst="rect">
            <a:avLst/>
          </a:prstGeom>
          <a:ln w="12700">
            <a:solidFill>
              <a:schemeClr val="tx1"/>
            </a:solidFill>
          </a:ln>
        </p:spPr>
      </p:pic>
    </p:spTree>
    <p:extLst>
      <p:ext uri="{BB962C8B-B14F-4D97-AF65-F5344CB8AC3E}">
        <p14:creationId xmlns:p14="http://schemas.microsoft.com/office/powerpoint/2010/main" val="413199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08263E-D54D-B1E8-36F1-D9DA3D41AF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3873B5-DC7F-D9E2-A2BE-6D732EA7022A}"/>
              </a:ext>
            </a:extLst>
          </p:cNvPr>
          <p:cNvSpPr txBox="1"/>
          <p:nvPr/>
        </p:nvSpPr>
        <p:spPr>
          <a:xfrm>
            <a:off x="179293" y="251012"/>
            <a:ext cx="43837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solidFill>
                  <a:schemeClr val="bg1"/>
                </a:solidFill>
              </a:rPr>
              <a:t>Quadrant 2</a:t>
            </a:r>
          </a:p>
        </p:txBody>
      </p:sp>
      <p:sp>
        <p:nvSpPr>
          <p:cNvPr id="6" name="TextBox 5">
            <a:extLst>
              <a:ext uri="{FF2B5EF4-FFF2-40B4-BE49-F238E27FC236}">
                <a16:creationId xmlns:a16="http://schemas.microsoft.com/office/drawing/2014/main" id="{5D61C929-D995-C2D5-ECC8-2B6E4288B680}"/>
              </a:ext>
            </a:extLst>
          </p:cNvPr>
          <p:cNvSpPr txBox="1"/>
          <p:nvPr/>
        </p:nvSpPr>
        <p:spPr>
          <a:xfrm>
            <a:off x="394446" y="1335740"/>
            <a:ext cx="2761129"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rPr>
              <a:t>Quadrant 2 includes a gauge that is set on the X Linear Twist . Also, below that is the full </a:t>
            </a:r>
            <a:r>
              <a:rPr lang="en-US" dirty="0" err="1">
                <a:solidFill>
                  <a:schemeClr val="bg1"/>
                </a:solidFill>
              </a:rPr>
              <a:t>odom</a:t>
            </a:r>
            <a:r>
              <a:rPr lang="en-US" dirty="0">
                <a:solidFill>
                  <a:schemeClr val="bg1"/>
                </a:solidFill>
              </a:rPr>
              <a:t> topic on display so that the value for the gauge is shown. To the right is a display that can be set to any topic. In this case, it is set to the IMU topic.</a:t>
            </a:r>
          </a:p>
        </p:txBody>
      </p:sp>
      <p:cxnSp>
        <p:nvCxnSpPr>
          <p:cNvPr id="7" name="Straight Arrow Connector 6">
            <a:extLst>
              <a:ext uri="{FF2B5EF4-FFF2-40B4-BE49-F238E27FC236}">
                <a16:creationId xmlns:a16="http://schemas.microsoft.com/office/drawing/2014/main" id="{66ADFEC6-8020-113B-C3B1-3AE91B1C214E}"/>
              </a:ext>
            </a:extLst>
          </p:cNvPr>
          <p:cNvCxnSpPr/>
          <p:nvPr/>
        </p:nvCxnSpPr>
        <p:spPr>
          <a:xfrm flipH="1">
            <a:off x="3550021" y="0"/>
            <a:ext cx="44824" cy="6857999"/>
          </a:xfrm>
          <a:prstGeom prst="straightConnector1">
            <a:avLst/>
          </a:prstGeom>
        </p:spPr>
        <p:style>
          <a:lnRef idx="3">
            <a:schemeClr val="dk1"/>
          </a:lnRef>
          <a:fillRef idx="0">
            <a:schemeClr val="dk1"/>
          </a:fillRef>
          <a:effectRef idx="2">
            <a:schemeClr val="dk1"/>
          </a:effectRef>
          <a:fontRef idx="minor">
            <a:schemeClr val="tx1"/>
          </a:fontRef>
        </p:style>
      </p:cxnSp>
      <p:pic>
        <p:nvPicPr>
          <p:cNvPr id="2" name="Picture 1" descr="A screenshot of a computer&#10;&#10;AI-generated content may be incorrect.">
            <a:extLst>
              <a:ext uri="{FF2B5EF4-FFF2-40B4-BE49-F238E27FC236}">
                <a16:creationId xmlns:a16="http://schemas.microsoft.com/office/drawing/2014/main" id="{12E1C5DD-5F74-3104-CAA7-7BC94FB3911E}"/>
              </a:ext>
            </a:extLst>
          </p:cNvPr>
          <p:cNvPicPr>
            <a:picLocks noChangeAspect="1"/>
          </p:cNvPicPr>
          <p:nvPr/>
        </p:nvPicPr>
        <p:blipFill>
          <a:blip r:embed="rId2"/>
          <a:srcRect t="746" b="746"/>
          <a:stretch>
            <a:fillRect/>
          </a:stretch>
        </p:blipFill>
        <p:spPr>
          <a:xfrm>
            <a:off x="4271963" y="830076"/>
            <a:ext cx="7296718" cy="4919975"/>
          </a:xfrm>
          <a:prstGeom prst="rect">
            <a:avLst/>
          </a:prstGeom>
          <a:ln w="12700">
            <a:solidFill>
              <a:schemeClr val="tx1"/>
            </a:solidFill>
          </a:ln>
        </p:spPr>
      </p:pic>
    </p:spTree>
    <p:extLst>
      <p:ext uri="{BB962C8B-B14F-4D97-AF65-F5344CB8AC3E}">
        <p14:creationId xmlns:p14="http://schemas.microsoft.com/office/powerpoint/2010/main" val="472785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9A3FF156-65C9-3F3F-4239-913AA95233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8E0070-278E-71E4-ED00-603F0743305F}"/>
              </a:ext>
            </a:extLst>
          </p:cNvPr>
          <p:cNvSpPr txBox="1"/>
          <p:nvPr/>
        </p:nvSpPr>
        <p:spPr>
          <a:xfrm>
            <a:off x="179293" y="251012"/>
            <a:ext cx="43837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solidFill>
                  <a:schemeClr val="bg1"/>
                </a:solidFill>
              </a:rPr>
              <a:t>Quadrant 3</a:t>
            </a:r>
          </a:p>
        </p:txBody>
      </p:sp>
      <p:sp>
        <p:nvSpPr>
          <p:cNvPr id="6" name="TextBox 5">
            <a:extLst>
              <a:ext uri="{FF2B5EF4-FFF2-40B4-BE49-F238E27FC236}">
                <a16:creationId xmlns:a16="http://schemas.microsoft.com/office/drawing/2014/main" id="{0C406C57-A22F-57FE-79DB-24F6670201FD}"/>
              </a:ext>
            </a:extLst>
          </p:cNvPr>
          <p:cNvSpPr txBox="1"/>
          <p:nvPr/>
        </p:nvSpPr>
        <p:spPr>
          <a:xfrm>
            <a:off x="394446" y="1335740"/>
            <a:ext cx="276112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rPr>
              <a:t>Quadrant 3 includes several different plots that display an array of information. For example, it can show x position relative to time, x position in relation to y position, or, in this case, X Linear Twist over time. This is useful because it gives a graph of the data, and when the mouse is over the graph, it displays specific data points.</a:t>
            </a:r>
          </a:p>
        </p:txBody>
      </p:sp>
      <p:cxnSp>
        <p:nvCxnSpPr>
          <p:cNvPr id="7" name="Straight Arrow Connector 6">
            <a:extLst>
              <a:ext uri="{FF2B5EF4-FFF2-40B4-BE49-F238E27FC236}">
                <a16:creationId xmlns:a16="http://schemas.microsoft.com/office/drawing/2014/main" id="{7B43E41B-89A3-5FCA-B5D5-242595A44D44}"/>
              </a:ext>
            </a:extLst>
          </p:cNvPr>
          <p:cNvCxnSpPr/>
          <p:nvPr/>
        </p:nvCxnSpPr>
        <p:spPr>
          <a:xfrm flipH="1">
            <a:off x="3550021" y="0"/>
            <a:ext cx="44824" cy="6857999"/>
          </a:xfrm>
          <a:prstGeom prst="straightConnector1">
            <a:avLst/>
          </a:prstGeom>
        </p:spPr>
        <p:style>
          <a:lnRef idx="3">
            <a:schemeClr val="dk1"/>
          </a:lnRef>
          <a:fillRef idx="0">
            <a:schemeClr val="dk1"/>
          </a:fillRef>
          <a:effectRef idx="2">
            <a:schemeClr val="dk1"/>
          </a:effectRef>
          <a:fontRef idx="minor">
            <a:schemeClr val="tx1"/>
          </a:fontRef>
        </p:style>
      </p:cxnSp>
      <p:pic>
        <p:nvPicPr>
          <p:cNvPr id="2" name="Picture 1" descr="A graph with blue lines&#10;&#10;AI-generated content may be incorrect.">
            <a:extLst>
              <a:ext uri="{FF2B5EF4-FFF2-40B4-BE49-F238E27FC236}">
                <a16:creationId xmlns:a16="http://schemas.microsoft.com/office/drawing/2014/main" id="{94B577AF-D763-DF0B-0F85-708C5EA45464}"/>
              </a:ext>
            </a:extLst>
          </p:cNvPr>
          <p:cNvPicPr>
            <a:picLocks noChangeAspect="1"/>
          </p:cNvPicPr>
          <p:nvPr/>
        </p:nvPicPr>
        <p:blipFill>
          <a:blip r:embed="rId2"/>
          <a:srcRect t="368" b="368"/>
          <a:stretch>
            <a:fillRect/>
          </a:stretch>
        </p:blipFill>
        <p:spPr>
          <a:xfrm>
            <a:off x="4271963" y="830076"/>
            <a:ext cx="7296718" cy="4919975"/>
          </a:xfrm>
          <a:prstGeom prst="rect">
            <a:avLst/>
          </a:prstGeom>
          <a:ln w="12700">
            <a:solidFill>
              <a:schemeClr val="tx1"/>
            </a:solidFill>
          </a:ln>
        </p:spPr>
      </p:pic>
    </p:spTree>
    <p:extLst>
      <p:ext uri="{BB962C8B-B14F-4D97-AF65-F5344CB8AC3E}">
        <p14:creationId xmlns:p14="http://schemas.microsoft.com/office/powerpoint/2010/main" val="3391694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A4600BA-4D5D-F642-140F-4E3ED0F179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2913EF-C285-509D-27C5-15DEA385938F}"/>
              </a:ext>
            </a:extLst>
          </p:cNvPr>
          <p:cNvSpPr txBox="1"/>
          <p:nvPr/>
        </p:nvSpPr>
        <p:spPr>
          <a:xfrm>
            <a:off x="179293" y="251012"/>
            <a:ext cx="438374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solidFill>
                  <a:schemeClr val="bg1"/>
                </a:solidFill>
              </a:rPr>
              <a:t>Quadrant 4</a:t>
            </a:r>
          </a:p>
        </p:txBody>
      </p:sp>
      <p:sp>
        <p:nvSpPr>
          <p:cNvPr id="6" name="TextBox 5">
            <a:extLst>
              <a:ext uri="{FF2B5EF4-FFF2-40B4-BE49-F238E27FC236}">
                <a16:creationId xmlns:a16="http://schemas.microsoft.com/office/drawing/2014/main" id="{72C9F170-C56E-5C72-2534-0CD0EF13CE83}"/>
              </a:ext>
            </a:extLst>
          </p:cNvPr>
          <p:cNvSpPr txBox="1"/>
          <p:nvPr/>
        </p:nvSpPr>
        <p:spPr>
          <a:xfrm>
            <a:off x="394446" y="1335740"/>
            <a:ext cx="276112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rPr>
              <a:t>Quadrant 4 includes the 3D rendering of the different lidar sensors.</a:t>
            </a:r>
          </a:p>
        </p:txBody>
      </p:sp>
      <p:cxnSp>
        <p:nvCxnSpPr>
          <p:cNvPr id="7" name="Straight Arrow Connector 6">
            <a:extLst>
              <a:ext uri="{FF2B5EF4-FFF2-40B4-BE49-F238E27FC236}">
                <a16:creationId xmlns:a16="http://schemas.microsoft.com/office/drawing/2014/main" id="{377B0EDE-5156-C8D7-ECCA-145BBA2E284E}"/>
              </a:ext>
            </a:extLst>
          </p:cNvPr>
          <p:cNvCxnSpPr/>
          <p:nvPr/>
        </p:nvCxnSpPr>
        <p:spPr>
          <a:xfrm flipH="1">
            <a:off x="3550021" y="0"/>
            <a:ext cx="44824" cy="6857999"/>
          </a:xfrm>
          <a:prstGeom prst="straightConnector1">
            <a:avLst/>
          </a:prstGeom>
        </p:spPr>
        <p:style>
          <a:lnRef idx="3">
            <a:schemeClr val="dk1"/>
          </a:lnRef>
          <a:fillRef idx="0">
            <a:schemeClr val="dk1"/>
          </a:fillRef>
          <a:effectRef idx="2">
            <a:schemeClr val="dk1"/>
          </a:effectRef>
          <a:fontRef idx="minor">
            <a:schemeClr val="tx1"/>
          </a:fontRef>
        </p:style>
      </p:cxnSp>
      <p:pic>
        <p:nvPicPr>
          <p:cNvPr id="2" name="Picture 1" descr="A screen shot of a computer generated image&#10;&#10;AI-generated content may be incorrect.">
            <a:extLst>
              <a:ext uri="{FF2B5EF4-FFF2-40B4-BE49-F238E27FC236}">
                <a16:creationId xmlns:a16="http://schemas.microsoft.com/office/drawing/2014/main" id="{1F92BE3F-541F-1A48-C7EA-E9963E270DF3}"/>
              </a:ext>
            </a:extLst>
          </p:cNvPr>
          <p:cNvPicPr>
            <a:picLocks noChangeAspect="1"/>
          </p:cNvPicPr>
          <p:nvPr/>
        </p:nvPicPr>
        <p:blipFill>
          <a:blip r:embed="rId2"/>
          <a:srcRect l="368" t="435" r="123" b="542"/>
          <a:stretch>
            <a:fillRect/>
          </a:stretch>
        </p:blipFill>
        <p:spPr>
          <a:xfrm>
            <a:off x="4298857" y="833718"/>
            <a:ext cx="7260870" cy="4904943"/>
          </a:xfrm>
          <a:prstGeom prst="rect">
            <a:avLst/>
          </a:prstGeom>
          <a:ln w="12700">
            <a:solidFill>
              <a:schemeClr val="tx1"/>
            </a:solidFill>
          </a:ln>
        </p:spPr>
      </p:pic>
    </p:spTree>
    <p:extLst>
      <p:ext uri="{BB962C8B-B14F-4D97-AF65-F5344CB8AC3E}">
        <p14:creationId xmlns:p14="http://schemas.microsoft.com/office/powerpoint/2010/main" val="169875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6082-C495-343F-5917-F88B275CA0A1}"/>
              </a:ext>
            </a:extLst>
          </p:cNvPr>
          <p:cNvSpPr>
            <a:spLocks noGrp="1"/>
          </p:cNvSpPr>
          <p:nvPr>
            <p:ph type="title"/>
          </p:nvPr>
        </p:nvSpPr>
        <p:spPr/>
        <p:txBody>
          <a:bodyPr>
            <a:normAutofit/>
          </a:bodyPr>
          <a:lstStyle/>
          <a:p>
            <a:r>
              <a:rPr lang="en-US" sz="3600" u="sng" dirty="0">
                <a:solidFill>
                  <a:schemeClr val="bg1"/>
                </a:solidFill>
              </a:rPr>
              <a:t>Read CSV</a:t>
            </a:r>
          </a:p>
        </p:txBody>
      </p:sp>
      <p:sp>
        <p:nvSpPr>
          <p:cNvPr id="3" name="Content Placeholder 2">
            <a:extLst>
              <a:ext uri="{FF2B5EF4-FFF2-40B4-BE49-F238E27FC236}">
                <a16:creationId xmlns:a16="http://schemas.microsoft.com/office/drawing/2014/main" id="{D0E8A897-62C8-233A-1354-B58909B0B7C4}"/>
              </a:ext>
            </a:extLst>
          </p:cNvPr>
          <p:cNvSpPr>
            <a:spLocks noGrp="1"/>
          </p:cNvSpPr>
          <p:nvPr>
            <p:ph idx="1"/>
          </p:nvPr>
        </p:nvSpPr>
        <p:spPr/>
        <p:txBody>
          <a:bodyPr vert="horz" lIns="91440" tIns="45720" rIns="91440" bIns="45720" rtlCol="0" anchor="t">
            <a:normAutofit/>
          </a:bodyPr>
          <a:lstStyle/>
          <a:p>
            <a:r>
              <a:rPr lang="en-US" sz="2000" dirty="0">
                <a:solidFill>
                  <a:schemeClr val="bg1"/>
                </a:solidFill>
              </a:rPr>
              <a:t>I wrote a python script that takes a .csv file from one of the </a:t>
            </a:r>
            <a:r>
              <a:rPr lang="en-US" sz="2000" dirty="0" err="1">
                <a:solidFill>
                  <a:schemeClr val="bg1"/>
                </a:solidFill>
              </a:rPr>
              <a:t>Rosbag</a:t>
            </a:r>
            <a:r>
              <a:rPr lang="en-US" sz="2000" dirty="0">
                <a:solidFill>
                  <a:schemeClr val="bg1"/>
                </a:solidFill>
              </a:rPr>
              <a:t> recordings and calculates meaningful data from it, such as average velocity, max speed, vibration analysis, comfort, and graphs of vibrations.</a:t>
            </a:r>
          </a:p>
          <a:p>
            <a:r>
              <a:rPr lang="en-US" sz="2000" dirty="0">
                <a:solidFill>
                  <a:schemeClr val="bg1"/>
                </a:solidFill>
              </a:rPr>
              <a:t>To use this script, simply go to the correct folder in terminal and input:</a:t>
            </a:r>
          </a:p>
          <a:p>
            <a:pPr lvl="1">
              <a:buFont typeface="Courier New" panose="020B0604020202020204" pitchFamily="34" charset="0"/>
              <a:buChar char="o"/>
            </a:pPr>
            <a:r>
              <a:rPr lang="en-US" sz="1600" dirty="0">
                <a:solidFill>
                  <a:schemeClr val="bg1"/>
                </a:solidFill>
              </a:rPr>
              <a:t>Python3 read_csv.py filename.csv</a:t>
            </a:r>
          </a:p>
        </p:txBody>
      </p:sp>
    </p:spTree>
    <p:extLst>
      <p:ext uri="{BB962C8B-B14F-4D97-AF65-F5344CB8AC3E}">
        <p14:creationId xmlns:p14="http://schemas.microsoft.com/office/powerpoint/2010/main" val="2481837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21C5D60B-17D9-EDFA-5DF3-0EFD1C5D3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3BF33-EF70-36A8-73D2-C1EC95E2F49C}"/>
              </a:ext>
            </a:extLst>
          </p:cNvPr>
          <p:cNvSpPr>
            <a:spLocks noGrp="1"/>
          </p:cNvSpPr>
          <p:nvPr>
            <p:ph type="title"/>
          </p:nvPr>
        </p:nvSpPr>
        <p:spPr/>
        <p:txBody>
          <a:bodyPr>
            <a:normAutofit/>
          </a:bodyPr>
          <a:lstStyle/>
          <a:p>
            <a:r>
              <a:rPr lang="en-US" sz="3600" u="sng" dirty="0">
                <a:solidFill>
                  <a:schemeClr val="bg1"/>
                </a:solidFill>
              </a:rPr>
              <a:t>Finding Time</a:t>
            </a:r>
          </a:p>
        </p:txBody>
      </p:sp>
      <p:sp>
        <p:nvSpPr>
          <p:cNvPr id="3" name="Content Placeholder 2">
            <a:extLst>
              <a:ext uri="{FF2B5EF4-FFF2-40B4-BE49-F238E27FC236}">
                <a16:creationId xmlns:a16="http://schemas.microsoft.com/office/drawing/2014/main" id="{A4ABFB01-F5E2-C390-00D5-6FA9CD8372A1}"/>
              </a:ext>
            </a:extLst>
          </p:cNvPr>
          <p:cNvSpPr>
            <a:spLocks noGrp="1"/>
          </p:cNvSpPr>
          <p:nvPr>
            <p:ph idx="1"/>
          </p:nvPr>
        </p:nvSpPr>
        <p:spPr/>
        <p:txBody>
          <a:bodyPr vert="horz" lIns="91440" tIns="45720" rIns="91440" bIns="45720" rtlCol="0" anchor="t">
            <a:normAutofit/>
          </a:bodyPr>
          <a:lstStyle/>
          <a:p>
            <a:pPr marL="342900" indent="-342900"/>
            <a:endParaRPr lang="en-US" sz="2000" dirty="0">
              <a:solidFill>
                <a:schemeClr val="bg1"/>
              </a:solidFill>
            </a:endParaRPr>
          </a:p>
          <a:p>
            <a:pPr marL="0" indent="0">
              <a:buNone/>
            </a:pPr>
            <a:endParaRPr lang="en-US" sz="2000" dirty="0">
              <a:solidFill>
                <a:schemeClr val="bg1"/>
              </a:solidFill>
            </a:endParaRPr>
          </a:p>
        </p:txBody>
      </p:sp>
      <p:sp>
        <p:nvSpPr>
          <p:cNvPr id="7" name="Content Placeholder 2">
            <a:extLst>
              <a:ext uri="{FF2B5EF4-FFF2-40B4-BE49-F238E27FC236}">
                <a16:creationId xmlns:a16="http://schemas.microsoft.com/office/drawing/2014/main" id="{5CF4E476-1AC0-A1DE-670A-104ACE10EDB1}"/>
              </a:ext>
            </a:extLst>
          </p:cNvPr>
          <p:cNvSpPr txBox="1">
            <a:spLocks/>
          </p:cNvSpPr>
          <p:nvPr/>
        </p:nvSpPr>
        <p:spPr>
          <a:xfrm>
            <a:off x="990600" y="19780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sz="2000" dirty="0">
                <a:solidFill>
                  <a:schemeClr val="bg1"/>
                </a:solidFill>
              </a:rPr>
              <a:t>There is some difficulty in finding the time. Since the </a:t>
            </a:r>
            <a:r>
              <a:rPr lang="en-US" sz="2000" dirty="0" err="1">
                <a:solidFill>
                  <a:schemeClr val="bg1"/>
                </a:solidFill>
              </a:rPr>
              <a:t>rosbag's</a:t>
            </a:r>
            <a:r>
              <a:rPr lang="en-US" sz="2000" dirty="0">
                <a:solidFill>
                  <a:schemeClr val="bg1"/>
                </a:solidFill>
              </a:rPr>
              <a:t> time data is stored in GPS time, the number is very large. When using this code, make sure not to open the csv file in Excell first because the very large number will be condensed and the time calculation will display an error, though it will still display the rest of  the information that is independent of time. </a:t>
            </a:r>
          </a:p>
          <a:p>
            <a:pPr marL="342900" indent="-342900"/>
            <a:r>
              <a:rPr lang="en-US" sz="2000" dirty="0">
                <a:solidFill>
                  <a:schemeClr val="bg1"/>
                </a:solidFill>
              </a:rPr>
              <a:t>To find the run time, I subtracted the first time point from the last time point. It is then converted into seconds before displaying in the terminal whether it is in terms of hours, minutes, and/or seconds.</a:t>
            </a:r>
          </a:p>
          <a:p>
            <a:pPr marL="0" indent="0">
              <a:buNone/>
            </a:pPr>
            <a:endParaRPr lang="en-US" sz="2000" dirty="0">
              <a:solidFill>
                <a:schemeClr val="bg1"/>
              </a:solidFill>
            </a:endParaRPr>
          </a:p>
        </p:txBody>
      </p:sp>
      <p:pic>
        <p:nvPicPr>
          <p:cNvPr id="8" name="Picture 7" descr="A computer screen shot of a program&#10;&#10;AI-generated content may be incorrect.">
            <a:extLst>
              <a:ext uri="{FF2B5EF4-FFF2-40B4-BE49-F238E27FC236}">
                <a16:creationId xmlns:a16="http://schemas.microsoft.com/office/drawing/2014/main" id="{12BB3D71-70B9-F3EE-4E45-DBC0B5F7E29C}"/>
              </a:ext>
            </a:extLst>
          </p:cNvPr>
          <p:cNvPicPr>
            <a:picLocks noChangeAspect="1"/>
          </p:cNvPicPr>
          <p:nvPr/>
        </p:nvPicPr>
        <p:blipFill>
          <a:blip r:embed="rId2"/>
          <a:srcRect l="-280" t="-408" r="187" b="-736"/>
          <a:stretch>
            <a:fillRect/>
          </a:stretch>
        </p:blipFill>
        <p:spPr>
          <a:xfrm>
            <a:off x="6021393" y="4158234"/>
            <a:ext cx="4225375" cy="2650119"/>
          </a:xfrm>
          <a:prstGeom prst="rect">
            <a:avLst/>
          </a:prstGeom>
        </p:spPr>
      </p:pic>
    </p:spTree>
    <p:extLst>
      <p:ext uri="{BB962C8B-B14F-4D97-AF65-F5344CB8AC3E}">
        <p14:creationId xmlns:p14="http://schemas.microsoft.com/office/powerpoint/2010/main" val="2940388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EFF4A928-E6C2-638A-2DA1-F7553E282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00CF2C-6BBE-88EA-9631-A73548B1D866}"/>
              </a:ext>
            </a:extLst>
          </p:cNvPr>
          <p:cNvSpPr>
            <a:spLocks noGrp="1"/>
          </p:cNvSpPr>
          <p:nvPr>
            <p:ph type="title"/>
          </p:nvPr>
        </p:nvSpPr>
        <p:spPr/>
        <p:txBody>
          <a:bodyPr>
            <a:normAutofit/>
          </a:bodyPr>
          <a:lstStyle/>
          <a:p>
            <a:r>
              <a:rPr lang="en-US" sz="3600" u="sng" dirty="0">
                <a:solidFill>
                  <a:schemeClr val="bg1"/>
                </a:solidFill>
              </a:rPr>
              <a:t>Total Distance, Average Speed, Maximum Speed</a:t>
            </a:r>
          </a:p>
        </p:txBody>
      </p:sp>
      <p:sp>
        <p:nvSpPr>
          <p:cNvPr id="3" name="Content Placeholder 2">
            <a:extLst>
              <a:ext uri="{FF2B5EF4-FFF2-40B4-BE49-F238E27FC236}">
                <a16:creationId xmlns:a16="http://schemas.microsoft.com/office/drawing/2014/main" id="{69321DAD-2211-F2EE-11ED-527267D99288}"/>
              </a:ext>
            </a:extLst>
          </p:cNvPr>
          <p:cNvSpPr>
            <a:spLocks noGrp="1"/>
          </p:cNvSpPr>
          <p:nvPr>
            <p:ph idx="1"/>
          </p:nvPr>
        </p:nvSpPr>
        <p:spPr/>
        <p:txBody>
          <a:bodyPr vert="horz" lIns="91440" tIns="45720" rIns="91440" bIns="45720" rtlCol="0" anchor="t">
            <a:normAutofit/>
          </a:bodyPr>
          <a:lstStyle/>
          <a:p>
            <a:pPr marL="342900" indent="-342900"/>
            <a:r>
              <a:rPr lang="en-US" sz="2000" dirty="0">
                <a:solidFill>
                  <a:schemeClr val="bg1"/>
                </a:solidFill>
              </a:rPr>
              <a:t>Total (planar) Distance is calculated by finding the difference between each position point (x and y), creating a vector with the Pythagorean Theorem, then adding all of these to find the total. </a:t>
            </a:r>
          </a:p>
          <a:p>
            <a:pPr marL="342900" indent="-342900"/>
            <a:r>
              <a:rPr lang="en-US" sz="2000" dirty="0">
                <a:solidFill>
                  <a:schemeClr val="bg1"/>
                </a:solidFill>
              </a:rPr>
              <a:t>Average speed is calculated two different ways, total distance over total time, and the mean of the recorded x twist</a:t>
            </a:r>
          </a:p>
          <a:p>
            <a:pPr marL="342900" indent="-342900"/>
            <a:r>
              <a:rPr lang="en-US" sz="2000" dirty="0">
                <a:solidFill>
                  <a:schemeClr val="bg1"/>
                </a:solidFill>
              </a:rPr>
              <a:t>Maximum Speed is found by finding the highest value in the x twist.</a:t>
            </a:r>
          </a:p>
          <a:p>
            <a:pPr marL="0" indent="0">
              <a:buNone/>
            </a:pPr>
            <a:endParaRPr lang="en-US" sz="2000" dirty="0">
              <a:solidFill>
                <a:schemeClr val="bg1"/>
              </a:solidFill>
            </a:endParaRPr>
          </a:p>
        </p:txBody>
      </p:sp>
    </p:spTree>
    <p:extLst>
      <p:ext uri="{BB962C8B-B14F-4D97-AF65-F5344CB8AC3E}">
        <p14:creationId xmlns:p14="http://schemas.microsoft.com/office/powerpoint/2010/main" val="1902875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6D3F0C8-767A-2E0B-F780-B72B18DF7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2CCF4-B4D8-4AD6-9AB2-07A9173C3432}"/>
              </a:ext>
            </a:extLst>
          </p:cNvPr>
          <p:cNvSpPr>
            <a:spLocks noGrp="1"/>
          </p:cNvSpPr>
          <p:nvPr>
            <p:ph type="title"/>
          </p:nvPr>
        </p:nvSpPr>
        <p:spPr/>
        <p:txBody>
          <a:bodyPr>
            <a:normAutofit/>
          </a:bodyPr>
          <a:lstStyle/>
          <a:p>
            <a:r>
              <a:rPr lang="en-US" sz="3600" u="sng" dirty="0">
                <a:solidFill>
                  <a:schemeClr val="bg1"/>
                </a:solidFill>
              </a:rPr>
              <a:t>Change in Altitude and Difference in Altitude</a:t>
            </a:r>
          </a:p>
        </p:txBody>
      </p:sp>
      <p:sp>
        <p:nvSpPr>
          <p:cNvPr id="3" name="Content Placeholder 2">
            <a:extLst>
              <a:ext uri="{FF2B5EF4-FFF2-40B4-BE49-F238E27FC236}">
                <a16:creationId xmlns:a16="http://schemas.microsoft.com/office/drawing/2014/main" id="{429C8BA2-500E-5F28-F693-DDED0917EE11}"/>
              </a:ext>
            </a:extLst>
          </p:cNvPr>
          <p:cNvSpPr>
            <a:spLocks noGrp="1"/>
          </p:cNvSpPr>
          <p:nvPr>
            <p:ph idx="1"/>
          </p:nvPr>
        </p:nvSpPr>
        <p:spPr/>
        <p:txBody>
          <a:bodyPr vert="horz" lIns="91440" tIns="45720" rIns="91440" bIns="45720" rtlCol="0" anchor="t">
            <a:normAutofit/>
          </a:bodyPr>
          <a:lstStyle/>
          <a:p>
            <a:pPr marL="342900" indent="-342900"/>
            <a:r>
              <a:rPr lang="en-US" sz="2000" dirty="0">
                <a:solidFill>
                  <a:schemeClr val="bg1"/>
                </a:solidFill>
              </a:rPr>
              <a:t>Change in altitude is determined by taking the z position, finding the difference between each point, then adding the absolute values of these all together. </a:t>
            </a:r>
          </a:p>
          <a:p>
            <a:pPr marL="342900" indent="-342900"/>
            <a:r>
              <a:rPr lang="en-US" sz="2000" dirty="0">
                <a:solidFill>
                  <a:schemeClr val="bg1"/>
                </a:solidFill>
                <a:ea typeface="+mn-lt"/>
                <a:cs typeface="+mn-lt"/>
              </a:rPr>
              <a:t>Difference in altitude is the final z position value minus the first z position value.</a:t>
            </a:r>
          </a:p>
          <a:p>
            <a:pPr marL="0" indent="0">
              <a:buNone/>
            </a:pPr>
            <a:endParaRPr lang="en-US" sz="2000" dirty="0">
              <a:solidFill>
                <a:schemeClr val="bg1"/>
              </a:solidFill>
              <a:ea typeface="+mn-lt"/>
              <a:cs typeface="+mn-lt"/>
            </a:endParaRPr>
          </a:p>
        </p:txBody>
      </p:sp>
    </p:spTree>
    <p:extLst>
      <p:ext uri="{BB962C8B-B14F-4D97-AF65-F5344CB8AC3E}">
        <p14:creationId xmlns:p14="http://schemas.microsoft.com/office/powerpoint/2010/main" val="590153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80EE05E-AB59-454B-1555-C44C7E064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AC11A-0FB1-7EB7-C094-FE01A82454A9}"/>
              </a:ext>
            </a:extLst>
          </p:cNvPr>
          <p:cNvSpPr>
            <a:spLocks noGrp="1"/>
          </p:cNvSpPr>
          <p:nvPr>
            <p:ph type="title"/>
          </p:nvPr>
        </p:nvSpPr>
        <p:spPr/>
        <p:txBody>
          <a:bodyPr>
            <a:normAutofit/>
          </a:bodyPr>
          <a:lstStyle/>
          <a:p>
            <a:r>
              <a:rPr lang="en-US" sz="3600" u="sng" dirty="0">
                <a:solidFill>
                  <a:schemeClr val="bg1"/>
                </a:solidFill>
              </a:rPr>
              <a:t>Max Acceleration and Max Change in Acceleration</a:t>
            </a:r>
          </a:p>
        </p:txBody>
      </p:sp>
      <p:sp>
        <p:nvSpPr>
          <p:cNvPr id="3" name="Content Placeholder 2">
            <a:extLst>
              <a:ext uri="{FF2B5EF4-FFF2-40B4-BE49-F238E27FC236}">
                <a16:creationId xmlns:a16="http://schemas.microsoft.com/office/drawing/2014/main" id="{84644D80-FF27-3A3D-95C5-F5108C81A5A8}"/>
              </a:ext>
            </a:extLst>
          </p:cNvPr>
          <p:cNvSpPr>
            <a:spLocks noGrp="1"/>
          </p:cNvSpPr>
          <p:nvPr>
            <p:ph idx="1"/>
          </p:nvPr>
        </p:nvSpPr>
        <p:spPr/>
        <p:txBody>
          <a:bodyPr vert="horz" lIns="91440" tIns="45720" rIns="91440" bIns="45720" rtlCol="0" anchor="t">
            <a:normAutofit/>
          </a:bodyPr>
          <a:lstStyle/>
          <a:p>
            <a:pPr marL="342900" indent="-342900"/>
            <a:r>
              <a:rPr lang="en-US" sz="2000" dirty="0">
                <a:solidFill>
                  <a:schemeClr val="bg1"/>
                </a:solidFill>
              </a:rPr>
              <a:t>Maximum Forward acceleration is just the largest value in the x acceleration data. </a:t>
            </a:r>
          </a:p>
          <a:p>
            <a:pPr marL="800100" lvl="1">
              <a:buFont typeface="Courier New" panose="020B0604020202020204" pitchFamily="34" charset="0"/>
              <a:buChar char="o"/>
            </a:pPr>
            <a:r>
              <a:rPr lang="en-US" sz="1600" dirty="0">
                <a:solidFill>
                  <a:schemeClr val="bg1"/>
                </a:solidFill>
              </a:rPr>
              <a:t>Also displayed in </a:t>
            </a:r>
            <a:r>
              <a:rPr lang="en-US" sz="1600" dirty="0" err="1">
                <a:solidFill>
                  <a:schemeClr val="bg1"/>
                </a:solidFill>
              </a:rPr>
              <a:t>Gs</a:t>
            </a:r>
            <a:r>
              <a:rPr lang="en-US" sz="1600" dirty="0">
                <a:solidFill>
                  <a:schemeClr val="bg1"/>
                </a:solidFill>
              </a:rPr>
              <a:t>.</a:t>
            </a:r>
          </a:p>
          <a:p>
            <a:pPr marL="342900" indent="-342900"/>
            <a:r>
              <a:rPr lang="en-US" sz="2000" dirty="0">
                <a:solidFill>
                  <a:schemeClr val="bg1"/>
                </a:solidFill>
              </a:rPr>
              <a:t>Maximum change in acceleration (jerk) is found by taking the </a:t>
            </a:r>
            <a:r>
              <a:rPr lang="en-US" sz="2000" dirty="0" err="1">
                <a:solidFill>
                  <a:schemeClr val="bg1"/>
                </a:solidFill>
              </a:rPr>
              <a:t>xyz</a:t>
            </a:r>
            <a:r>
              <a:rPr lang="en-US" sz="2000" dirty="0">
                <a:solidFill>
                  <a:schemeClr val="bg1"/>
                </a:solidFill>
              </a:rPr>
              <a:t> accelerations and creating a single vector, for each value of </a:t>
            </a:r>
            <a:r>
              <a:rPr lang="en-US" sz="2000" dirty="0" err="1">
                <a:solidFill>
                  <a:schemeClr val="bg1"/>
                </a:solidFill>
              </a:rPr>
              <a:t>xyz</a:t>
            </a:r>
            <a:r>
              <a:rPr lang="en-US" sz="2000" dirty="0">
                <a:solidFill>
                  <a:schemeClr val="bg1"/>
                </a:solidFill>
              </a:rPr>
              <a:t> accelerations, then making a list of the absolute difference between each. From this new list, the largest value is displayed, along with the timestamp in seconds.</a:t>
            </a:r>
          </a:p>
        </p:txBody>
      </p:sp>
    </p:spTree>
    <p:extLst>
      <p:ext uri="{BB962C8B-B14F-4D97-AF65-F5344CB8AC3E}">
        <p14:creationId xmlns:p14="http://schemas.microsoft.com/office/powerpoint/2010/main" val="34540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BECFB12-5CA2-5D22-AA60-76E2FC67A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9998B-431D-E2DF-C4C9-FFAAD17D8CC5}"/>
              </a:ext>
            </a:extLst>
          </p:cNvPr>
          <p:cNvSpPr>
            <a:spLocks noGrp="1"/>
          </p:cNvSpPr>
          <p:nvPr>
            <p:ph type="title"/>
          </p:nvPr>
        </p:nvSpPr>
        <p:spPr/>
        <p:txBody>
          <a:bodyPr>
            <a:normAutofit/>
          </a:bodyPr>
          <a:lstStyle/>
          <a:p>
            <a:r>
              <a:rPr lang="en-US" sz="3600" u="sng" dirty="0">
                <a:solidFill>
                  <a:schemeClr val="bg1"/>
                </a:solidFill>
              </a:rPr>
              <a:t>Vibration Analysis</a:t>
            </a:r>
          </a:p>
        </p:txBody>
      </p:sp>
      <p:sp>
        <p:nvSpPr>
          <p:cNvPr id="3" name="Content Placeholder 2">
            <a:extLst>
              <a:ext uri="{FF2B5EF4-FFF2-40B4-BE49-F238E27FC236}">
                <a16:creationId xmlns:a16="http://schemas.microsoft.com/office/drawing/2014/main" id="{11BC5CDB-B775-BAA4-1B9E-595B510DC63B}"/>
              </a:ext>
            </a:extLst>
          </p:cNvPr>
          <p:cNvSpPr>
            <a:spLocks noGrp="1"/>
          </p:cNvSpPr>
          <p:nvPr>
            <p:ph idx="1"/>
          </p:nvPr>
        </p:nvSpPr>
        <p:spPr>
          <a:xfrm>
            <a:off x="838200" y="1768116"/>
            <a:ext cx="10501223" cy="3328748"/>
          </a:xfrm>
        </p:spPr>
        <p:txBody>
          <a:bodyPr vert="horz" lIns="91440" tIns="45720" rIns="91440" bIns="45720" rtlCol="0" anchor="t">
            <a:normAutofit lnSpcReduction="10000"/>
          </a:bodyPr>
          <a:lstStyle/>
          <a:p>
            <a:pPr marL="342900" indent="-342900"/>
            <a:r>
              <a:rPr lang="en-US" sz="2000" dirty="0">
                <a:solidFill>
                  <a:schemeClr val="bg1"/>
                </a:solidFill>
              </a:rPr>
              <a:t>To analyze the x, y, and z accelerations into meaningful data, there is first a </a:t>
            </a:r>
            <a:r>
              <a:rPr lang="en-US" sz="2000" dirty="0" err="1">
                <a:solidFill>
                  <a:schemeClr val="bg1"/>
                </a:solidFill>
              </a:rPr>
              <a:t>butterworth</a:t>
            </a:r>
            <a:r>
              <a:rPr lang="en-US" sz="2000" dirty="0">
                <a:solidFill>
                  <a:schemeClr val="bg1"/>
                </a:solidFill>
              </a:rPr>
              <a:t> filter applied to the information (default is a low pass filter of 3 Hz, but that can be changed).</a:t>
            </a:r>
          </a:p>
          <a:p>
            <a:pPr marL="342900" indent="-342900"/>
            <a:r>
              <a:rPr lang="en-US" sz="2000" dirty="0">
                <a:solidFill>
                  <a:schemeClr val="bg1"/>
                </a:solidFill>
              </a:rPr>
              <a:t>This data is then displayed alongside the raw data in a graph that is opened on a browser. There is also a graph of the total vectors that is used for event detection.</a:t>
            </a:r>
          </a:p>
          <a:p>
            <a:pPr marL="342900" indent="-342900"/>
            <a:r>
              <a:rPr lang="en-US" sz="2000" dirty="0">
                <a:solidFill>
                  <a:schemeClr val="bg1"/>
                </a:solidFill>
              </a:rPr>
              <a:t>In addition to this, the raw data is filtered with a different </a:t>
            </a:r>
            <a:r>
              <a:rPr lang="en-US" sz="2000" dirty="0" err="1">
                <a:solidFill>
                  <a:schemeClr val="bg1"/>
                </a:solidFill>
              </a:rPr>
              <a:t>butterworth</a:t>
            </a:r>
            <a:r>
              <a:rPr lang="en-US" sz="2000" dirty="0">
                <a:solidFill>
                  <a:schemeClr val="bg1"/>
                </a:solidFill>
              </a:rPr>
              <a:t> filter (default low cutoff of .5Hz and a high cutoff of 20Hz). This </a:t>
            </a:r>
            <a:r>
              <a:rPr lang="en-US" sz="2000" dirty="0" err="1">
                <a:solidFill>
                  <a:schemeClr val="bg1"/>
                </a:solidFill>
              </a:rPr>
              <a:t>xyz</a:t>
            </a:r>
            <a:r>
              <a:rPr lang="en-US" sz="2000" dirty="0">
                <a:solidFill>
                  <a:schemeClr val="bg1"/>
                </a:solidFill>
              </a:rPr>
              <a:t> filtered data is then combined into a single vector list, then an average is taken, giving a number that shows the comfort during the run. The larger the comfort index, theoretically the rougher the road type is.  The possible road type is displayed.</a:t>
            </a:r>
          </a:p>
          <a:p>
            <a:pPr marL="800100" lvl="1">
              <a:buFont typeface="Courier New" panose="020B0604020202020204" pitchFamily="34" charset="0"/>
              <a:buChar char="o"/>
            </a:pPr>
            <a:r>
              <a:rPr lang="en-US" sz="1600" dirty="0">
                <a:solidFill>
                  <a:schemeClr val="bg1"/>
                </a:solidFill>
              </a:rPr>
              <a:t>Note: a poorly paved road could have a similar comfort index to a gravel road.</a:t>
            </a:r>
          </a:p>
          <a:p>
            <a:pPr marL="800100" lvl="1">
              <a:buFont typeface="Courier New" panose="020B0604020202020204" pitchFamily="34" charset="0"/>
              <a:buChar char="o"/>
            </a:pPr>
            <a:r>
              <a:rPr lang="en-US" sz="1600" dirty="0">
                <a:solidFill>
                  <a:schemeClr val="bg1"/>
                </a:solidFill>
              </a:rPr>
              <a:t>Speed would need to be taken into account for more accurate information on road type.</a:t>
            </a:r>
          </a:p>
          <a:p>
            <a:pPr marL="571500" lvl="1" indent="0">
              <a:buNone/>
            </a:pPr>
            <a:endParaRPr lang="en-US" sz="1600" dirty="0">
              <a:solidFill>
                <a:schemeClr val="bg1"/>
              </a:solidFill>
            </a:endParaRPr>
          </a:p>
        </p:txBody>
      </p:sp>
      <p:sp>
        <p:nvSpPr>
          <p:cNvPr id="6" name="Content Placeholder 2">
            <a:extLst>
              <a:ext uri="{FF2B5EF4-FFF2-40B4-BE49-F238E27FC236}">
                <a16:creationId xmlns:a16="http://schemas.microsoft.com/office/drawing/2014/main" id="{C3EDBCB5-72C7-7BE0-5E6C-7225624EC880}"/>
              </a:ext>
            </a:extLst>
          </p:cNvPr>
          <p:cNvSpPr txBox="1">
            <a:spLocks/>
          </p:cNvSpPr>
          <p:nvPr/>
        </p:nvSpPr>
        <p:spPr>
          <a:xfrm>
            <a:off x="834736" y="5103303"/>
            <a:ext cx="10506941" cy="78379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sz="2000" dirty="0">
                <a:solidFill>
                  <a:schemeClr val="bg1"/>
                </a:solidFill>
              </a:rPr>
              <a:t>Also, the RMS of the raw acceleration data is calculated and displayed.</a:t>
            </a:r>
          </a:p>
        </p:txBody>
      </p:sp>
    </p:spTree>
    <p:extLst>
      <p:ext uri="{BB962C8B-B14F-4D97-AF65-F5344CB8AC3E}">
        <p14:creationId xmlns:p14="http://schemas.microsoft.com/office/powerpoint/2010/main" val="1911085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8767C-ED87-4B3D-8599-5A01B4D9C99C}"/>
              </a:ext>
            </a:extLst>
          </p:cNvPr>
          <p:cNvSpPr>
            <a:spLocks noGrp="1"/>
          </p:cNvSpPr>
          <p:nvPr>
            <p:ph type="title"/>
          </p:nvPr>
        </p:nvSpPr>
        <p:spPr/>
        <p:txBody>
          <a:bodyPr>
            <a:normAutofit/>
          </a:bodyPr>
          <a:lstStyle/>
          <a:p>
            <a:r>
              <a:rPr lang="en-US" sz="3600" u="sng" dirty="0">
                <a:solidFill>
                  <a:schemeClr val="bg1"/>
                </a:solidFill>
              </a:rPr>
              <a:t>Vibration Analysis Cont.</a:t>
            </a:r>
          </a:p>
        </p:txBody>
      </p:sp>
      <p:sp>
        <p:nvSpPr>
          <p:cNvPr id="3" name="Content Placeholder 2">
            <a:extLst>
              <a:ext uri="{FF2B5EF4-FFF2-40B4-BE49-F238E27FC236}">
                <a16:creationId xmlns:a16="http://schemas.microsoft.com/office/drawing/2014/main" id="{4D954332-1BC7-0121-7ECE-2ABF1BC1CC19}"/>
              </a:ext>
            </a:extLst>
          </p:cNvPr>
          <p:cNvSpPr>
            <a:spLocks noGrp="1"/>
          </p:cNvSpPr>
          <p:nvPr>
            <p:ph idx="1"/>
          </p:nvPr>
        </p:nvSpPr>
        <p:spPr/>
        <p:txBody>
          <a:bodyPr vert="horz" lIns="91440" tIns="45720" rIns="91440" bIns="45720" rtlCol="0" anchor="t">
            <a:normAutofit/>
          </a:bodyPr>
          <a:lstStyle/>
          <a:p>
            <a:r>
              <a:rPr lang="en-US" sz="2000" dirty="0">
                <a:solidFill>
                  <a:schemeClr val="bg1"/>
                </a:solidFill>
              </a:rPr>
              <a:t>In addition to these is event detection. This detects how many times there is an acceleration event (ex: a large bump or pothole) by comparing the full vector data(with a low pass filter) to a set number (default of 1.5 meters per second squared) and finds the times the data peaks above the set number. </a:t>
            </a:r>
          </a:p>
          <a:p>
            <a:r>
              <a:rPr lang="en-US" sz="2000" dirty="0">
                <a:solidFill>
                  <a:schemeClr val="bg1"/>
                </a:solidFill>
              </a:rPr>
              <a:t>With this information, the number of events is compared to the total time passed, displaying the average time between acceleration events. </a:t>
            </a:r>
          </a:p>
        </p:txBody>
      </p:sp>
    </p:spTree>
    <p:extLst>
      <p:ext uri="{BB962C8B-B14F-4D97-AF65-F5344CB8AC3E}">
        <p14:creationId xmlns:p14="http://schemas.microsoft.com/office/powerpoint/2010/main" val="4135600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Read CSV</vt:lpstr>
      <vt:lpstr>Finding Time</vt:lpstr>
      <vt:lpstr>Total Distance, Average Speed, Maximum Speed</vt:lpstr>
      <vt:lpstr>Change in Altitude and Difference in Altitude</vt:lpstr>
      <vt:lpstr>Max Acceleration and Max Change in Acceleration</vt:lpstr>
      <vt:lpstr>Vibration Analysis</vt:lpstr>
      <vt:lpstr>Vibration Analysis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877</cp:revision>
  <dcterms:created xsi:type="dcterms:W3CDTF">2025-07-24T17:23:42Z</dcterms:created>
  <dcterms:modified xsi:type="dcterms:W3CDTF">2025-08-15T17:46:01Z</dcterms:modified>
</cp:coreProperties>
</file>